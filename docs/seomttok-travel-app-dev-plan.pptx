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b9435b1a847b8" /><Relationship Type="http://schemas.openxmlformats.org/officeDocument/2006/relationships/extended-properties" Target="/docProps/app.xml" Id="Rcef3e8619dfd4c7f" /><Relationship Type="http://schemas.openxmlformats.org/officeDocument/2006/relationships/officeDocument" Target="/ppt/presentation.xml" Id="Rafef82d603c5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1e96148cd4d29"/>
  </p:sldMasterIdLst>
  <p:notesMasterIdLst>
    <p:notesMasterId xmlns:r="http://schemas.openxmlformats.org/officeDocument/2006/relationships" r:id="R03d3031d0eac4fad"/>
  </p:notesMasterIdLst>
  <p:sldIdLst>
    <p:sldId xmlns:r="http://schemas.openxmlformats.org/officeDocument/2006/relationships" id="256" r:id="R26600baaad444b17"/>
    <p:sldId xmlns:r="http://schemas.openxmlformats.org/officeDocument/2006/relationships" id="257" r:id="R6049543eaa1d4156"/>
    <p:sldId xmlns:r="http://schemas.openxmlformats.org/officeDocument/2006/relationships" id="258" r:id="R12767365cd814b2a"/>
    <p:sldId xmlns:r="http://schemas.openxmlformats.org/officeDocument/2006/relationships" id="259" r:id="Racd7104f13524ef5"/>
    <p:sldId xmlns:r="http://schemas.openxmlformats.org/officeDocument/2006/relationships" id="260" r:id="R533920e02fb9432f"/>
    <p:sldId xmlns:r="http://schemas.openxmlformats.org/officeDocument/2006/relationships" id="261" r:id="R106193f1d75049e3"/>
    <p:sldId xmlns:r="http://schemas.openxmlformats.org/officeDocument/2006/relationships" id="262" r:id="Rf72986fb2000495c"/>
    <p:sldId xmlns:r="http://schemas.openxmlformats.org/officeDocument/2006/relationships" id="263" r:id="R9cf439bc891f4f40"/>
    <p:sldId xmlns:r="http://schemas.openxmlformats.org/officeDocument/2006/relationships" id="264" r:id="Ra24b4b4fd52b418c"/>
    <p:sldId xmlns:r="http://schemas.openxmlformats.org/officeDocument/2006/relationships" id="265" r:id="Rbd7b8ac19ea844ce"/>
    <p:sldId xmlns:r="http://schemas.openxmlformats.org/officeDocument/2006/relationships" id="266" r:id="R358d90ef93a34050"/>
    <p:sldId xmlns:r="http://schemas.openxmlformats.org/officeDocument/2006/relationships" id="267" r:id="Ra6c35593023643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dec1cd6104afa" /><Relationship Type="http://schemas.openxmlformats.org/officeDocument/2006/relationships/slideMaster" Target="/ppt/slideMasters/slideMaster1.xml" Id="Rb041e96148cd4d29" /><Relationship Type="http://schemas.openxmlformats.org/officeDocument/2006/relationships/notesMaster" Target="/ppt/notesMasters/notesMaster1.xml" Id="R03d3031d0eac4fad" /><Relationship Type="http://schemas.openxmlformats.org/officeDocument/2006/relationships/presProps" Target="/ppt/presProps.xml" Id="R59e7374a40704bd6" /><Relationship Type="http://schemas.openxmlformats.org/officeDocument/2006/relationships/tableStyles" Target="/ppt/tableStyles.xml" Id="R79d1a842c6034876" /><Relationship Type="http://schemas.openxmlformats.org/officeDocument/2006/relationships/slide" Target="/ppt/slides/slide1.xml" Id="R26600baaad444b17" /><Relationship Type="http://schemas.openxmlformats.org/officeDocument/2006/relationships/slide" Target="/ppt/slides/slide2.xml" Id="R6049543eaa1d4156" /><Relationship Type="http://schemas.openxmlformats.org/officeDocument/2006/relationships/slide" Target="/ppt/slides/slide3.xml" Id="R12767365cd814b2a" /><Relationship Type="http://schemas.openxmlformats.org/officeDocument/2006/relationships/slide" Target="/ppt/slides/slide4.xml" Id="Racd7104f13524ef5" /><Relationship Type="http://schemas.openxmlformats.org/officeDocument/2006/relationships/slide" Target="/ppt/slides/slide5.xml" Id="R533920e02fb9432f" /><Relationship Type="http://schemas.openxmlformats.org/officeDocument/2006/relationships/slide" Target="/ppt/slides/slide6.xml" Id="R106193f1d75049e3" /><Relationship Type="http://schemas.openxmlformats.org/officeDocument/2006/relationships/slide" Target="/ppt/slides/slide7.xml" Id="Rf72986fb2000495c" /><Relationship Type="http://schemas.openxmlformats.org/officeDocument/2006/relationships/slide" Target="/ppt/slides/slide8.xml" Id="R9cf439bc891f4f40" /><Relationship Type="http://schemas.openxmlformats.org/officeDocument/2006/relationships/slide" Target="/ppt/slides/slide9.xml" Id="Ra24b4b4fd52b418c" /><Relationship Type="http://schemas.openxmlformats.org/officeDocument/2006/relationships/slide" Target="/ppt/slides/slide10.xml" Id="Rbd7b8ac19ea844ce" /><Relationship Type="http://schemas.openxmlformats.org/officeDocument/2006/relationships/slide" Target="/ppt/slides/slide11.xml" Id="R358d90ef93a34050" /><Relationship Type="http://schemas.openxmlformats.org/officeDocument/2006/relationships/slide" Target="/ppt/slides/slide12.xml" Id="Ra6c35593023643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2d4e820754c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51e72fcbc2405e" /><Relationship Type="http://schemas.openxmlformats.org/officeDocument/2006/relationships/notesMaster" Target="/ppt/notesMasters/notesMaster1.xml" Id="R10dd05ddfae644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9f0f4de2fc407e" /><Relationship Type="http://schemas.openxmlformats.org/officeDocument/2006/relationships/notesMaster" Target="/ppt/notesMasters/notesMaster1.xml" Id="R6a9b476e3f2d40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b9dc4e696c420f" /><Relationship Type="http://schemas.openxmlformats.org/officeDocument/2006/relationships/notesMaster" Target="/ppt/notesMasters/notesMaster1.xml" Id="R341743e854b1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5f719375344c80" /><Relationship Type="http://schemas.openxmlformats.org/officeDocument/2006/relationships/notesMaster" Target="/ppt/notesMasters/notesMaster1.xml" Id="R6d07897238a74c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1c56dd6fb4702" /><Relationship Type="http://schemas.openxmlformats.org/officeDocument/2006/relationships/notesMaster" Target="/ppt/notesMasters/notesMaster1.xml" Id="R70262475368543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b9671543654942" /><Relationship Type="http://schemas.openxmlformats.org/officeDocument/2006/relationships/notesMaster" Target="/ppt/notesMasters/notesMaster1.xml" Id="R1ecccc6914d04b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108d734c7e4383" /><Relationship Type="http://schemas.openxmlformats.org/officeDocument/2006/relationships/notesMaster" Target="/ppt/notesMasters/notesMaster1.xml" Id="Rf7b59e47767c44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234aea3e0a4fee" /><Relationship Type="http://schemas.openxmlformats.org/officeDocument/2006/relationships/notesMaster" Target="/ppt/notesMasters/notesMaster1.xml" Id="R2615a25d92514a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0d923bdd9c4a9d" /><Relationship Type="http://schemas.openxmlformats.org/officeDocument/2006/relationships/notesMaster" Target="/ppt/notesMasters/notesMaster1.xml" Id="Re98b89c273b048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215eed5ea64b4e" /><Relationship Type="http://schemas.openxmlformats.org/officeDocument/2006/relationships/notesMaster" Target="/ppt/notesMasters/notesMaster1.xml" Id="R5844de33f4cd4c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53b1af1b1a4fbd" /><Relationship Type="http://schemas.openxmlformats.org/officeDocument/2006/relationships/notesMaster" Target="/ppt/notesMasters/notesMaster1.xml" Id="Rfe5e318ec24847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6ace89c41e42eb" /><Relationship Type="http://schemas.openxmlformats.org/officeDocument/2006/relationships/notesMaster" Target="/ppt/notesMasters/notesMaster1.xml" Id="R90a0e72cfecd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context: C:/dev/sea-load apps/mobile and apps/api</a:t>
            </a:r>
          </a:p>
          <a:p xmlns:a="http://schemas.openxmlformats.org/drawingml/2006/main">
            <a:r>
              <a:t>Visual asset: docs/play-store/assets/seomttok-feature-graphic-1024x500.png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app flows: apps/mobile/app/(tabs)/schedule.tsx, forecast.tsx, island-trip.tsx, cruise.tsx</a:t>
            </a:r>
          </a:p>
          <a:p xmlns:a="http://schemas.openxmlformats.org/drawingml/2006/main">
            <a:r>
              <a:t>No external statistics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Navigation source: apps/mobile/app/(tabs)/_layout.tsx</a:t>
            </a:r>
          </a:p>
          <a:p xmlns:a="http://schemas.openxmlformats.org/drawingml/2006/main">
            <a:r>
              <a:t>Menu screens: schedule.tsx, forecast.tsx, island-trip.tsx, cruise.tsx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docs/play-store/screenshots/phone/01-home.png</a:t>
            </a:r>
          </a:p>
          <a:p xmlns:a="http://schemas.openxmlformats.org/drawingml/2006/main">
            <a:r>
              <a:t>Home screen source: apps/mobile/app/(tabs)/index.tsx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docs/play-store/screenshots/phone/02-schedule.png</a:t>
            </a:r>
          </a:p>
          <a:p xmlns:a="http://schemas.openxmlformats.org/drawingml/2006/main">
            <a:r>
              <a:t>Schedule screen source: apps/mobile/app/(tabs)/schedule.tsx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docs/play-store/screenshots/phone/05-forecast.png</a:t>
            </a:r>
          </a:p>
          <a:p xmlns:a="http://schemas.openxmlformats.org/drawingml/2006/main">
            <a:r>
              <a:t>Forecast screen source: apps/mobile/app/(tabs)/forecast.tsx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docs/play-store/screenshots/phone/03-island-trip.png</a:t>
            </a:r>
          </a:p>
          <a:p xmlns:a="http://schemas.openxmlformats.org/drawingml/2006/main">
            <a:r>
              <a:t>Island trip source: apps/mobile/app/(tabs)/island-trip.tsx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Cruise screen source: apps/mobile/app/(tabs)/cruise.tsx</a:t>
            </a:r>
          </a:p>
          <a:p xmlns:a="http://schemas.openxmlformats.org/drawingml/2006/main">
            <a:r>
              <a:t>Cruise seed source: apps/api/prisma/seed-cruise-data.cjs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 collection scripts: apps/api/prisma/collect-data-go-kr-travel-files.cjs</a:t>
            </a:r>
          </a:p>
          <a:p xmlns:a="http://schemas.openxmlformats.org/drawingml/2006/main">
            <a:r>
              <a:t>Travel regions: apps/api/prisma/seed-island-travel-region-master.cjs</a:t>
            </a:r>
          </a:p>
          <a:p xmlns:a="http://schemas.openxmlformats.org/drawingml/2006/main">
            <a:r>
              <a:t>Address master: apps/api/prisma/seed-address-master.cjs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Recommendation service source: apps/api/src/island-trips/island-trips.service.ts</a:t>
            </a:r>
          </a:p>
          <a:p xmlns:a="http://schemas.openxmlformats.org/drawingml/2006/main">
            <a:r>
              <a:t>Recommendation asset seed: apps/api/prisma/seed-travel-recommendation-assets.cjs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Play assets folder: docs/play-store</a:t>
            </a:r>
          </a:p>
          <a:p xmlns:a="http://schemas.openxmlformats.org/drawingml/2006/main">
            <a:r>
              <a:t>Privacy URL route: apps/mobile/app/privacy-policy.tsx</a:t>
            </a:r>
          </a:p>
          <a:p xmlns:a="http://schemas.openxmlformats.org/drawingml/2006/main">
            <a:r>
              <a:t>AAB build script: scripts/build-play-aab.ps1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synthesized from current project state and prior planning in this Codex task.</a:t>
            </a:r>
          </a:p>
          <a:p xmlns:a="http://schemas.openxmlformats.org/drawingml/2006/main">
            <a:r>
              <a:t>No external market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6586cbc67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d746e0fe674c49" /><Relationship Type="http://schemas.openxmlformats.org/officeDocument/2006/relationships/slideLayout" Target="/ppt/slideLayouts/slideLayout1.xml" Id="Rdfb11ec7045f40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b11ec7045f40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930ad88454cff" /><Relationship Type="http://schemas.openxmlformats.org/officeDocument/2006/relationships/image" Target="/ppt/media/image.png" Id="R35134109655941b3" /><Relationship Type="http://schemas.openxmlformats.org/officeDocument/2006/relationships/image" Target="/ppt/media/image2.png" Id="R9f2ad7eaf2a8411d" /><Relationship Type="http://schemas.openxmlformats.org/officeDocument/2006/relationships/notesSlide" Target="/ppt/notesSlides/notesSlide1.xml" Id="R38eb55d423bd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ec7cec7344343" /><Relationship Type="http://schemas.openxmlformats.org/officeDocument/2006/relationships/notesSlide" Target="/ppt/notesSlides/notesSlide2.xml" Id="R2276d65507fc47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5ed4afd464a87" /><Relationship Type="http://schemas.openxmlformats.org/officeDocument/2006/relationships/notesSlide" Target="/ppt/notesSlides/notesSlide3.xml" Id="R370954e7d89249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605718ddd4e17" /><Relationship Type="http://schemas.openxmlformats.org/officeDocument/2006/relationships/image" Target="/ppt/media/image3.png" Id="R044120e59ece4bfe" /><Relationship Type="http://schemas.openxmlformats.org/officeDocument/2006/relationships/notesSlide" Target="/ppt/notesSlides/notesSlide4.xml" Id="R83078264c2f2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3f64c0d1844dd" /><Relationship Type="http://schemas.openxmlformats.org/officeDocument/2006/relationships/image" Target="/ppt/media/image4.png" Id="R114c7c85ef7140ac" /><Relationship Type="http://schemas.openxmlformats.org/officeDocument/2006/relationships/notesSlide" Target="/ppt/notesSlides/notesSlide5.xml" Id="Rff072c9db43e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bc686858747d6" /><Relationship Type="http://schemas.openxmlformats.org/officeDocument/2006/relationships/image" Target="/ppt/media/image5.png" Id="R6c19f0a75e744c58" /><Relationship Type="http://schemas.openxmlformats.org/officeDocument/2006/relationships/notesSlide" Target="/ppt/notesSlides/notesSlide6.xml" Id="R4a5b776f522040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52247829740b2" /><Relationship Type="http://schemas.openxmlformats.org/officeDocument/2006/relationships/image" Target="/ppt/media/image6.png" Id="R2df19a268f5e4c66" /><Relationship Type="http://schemas.openxmlformats.org/officeDocument/2006/relationships/notesSlide" Target="/ppt/notesSlides/notesSlide7.xml" Id="R48de33377e3a43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62977938d4bf0" /><Relationship Type="http://schemas.openxmlformats.org/officeDocument/2006/relationships/notesSlide" Target="/ppt/notesSlides/notesSlide8.xml" Id="Rbb5ba50fe53c4f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1ceaece824e09" /><Relationship Type="http://schemas.openxmlformats.org/officeDocument/2006/relationships/notesSlide" Target="/ppt/notesSlides/notesSlide9.xml" Id="R9bebfed55e3045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8f4171558498b" /><Relationship Type="http://schemas.openxmlformats.org/officeDocument/2006/relationships/notesSlide" Target="/ppt/notesSlides/notesSlide10.xml" Id="R52f33431ed6548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4506d9b434650" /><Relationship Type="http://schemas.openxmlformats.org/officeDocument/2006/relationships/notesSlide" Target="/ppt/notesSlides/notesSlide11.xml" Id="R296d89a887d842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70d4f26d9488d" /><Relationship Type="http://schemas.openxmlformats.org/officeDocument/2006/relationships/notesSlide" Target="/ppt/notesSlides/notesSlide12.xml" Id="R1ffc12ad5f8b42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34109655941b3"/>
          <a:srcRect xmlns:a="http://schemas.openxmlformats.org/drawingml/2006/main" l="87" t="0" r="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781050"/>
            <a:ext cx="525780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ad7eaf2a8411d"/>
          <a:stretch xmlns:a="http://schemas.openxmlformats.org/drawingml/2006/main"/>
        </p:blipFill>
        <p:spPr>
          <a:xfrm xmlns:a="http://schemas.openxmlformats.org/drawingml/2006/main">
            <a:off x="609600" y="70485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94C32-223A-44AE-ADB7-509099D8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2A43"/>
                </a:solidFill>
              </a:defRPr>
            </a:pPr>
            <a:r>
              <a:rPr sz="4650" b="1">
                <a:solidFill>
                  <a:srgbClr val="102A43"/>
                </a:solidFill>
              </a:rPr>
              <a:t>섬똑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11FE5-03D8-4F0D-A51C-55E992D6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B53"/>
                </a:solidFill>
              </a:defRPr>
            </a:pPr>
            <a:r>
              <a:rPr sz="1950" b="1">
                <a:solidFill>
                  <a:srgbClr val="243B53"/>
                </a:solidFill>
              </a:rPr>
              <a:t>섬으로 가는 길을 한 번에 확인하는 여행앱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8F1B8-66DE-47F4-9B58-600FB9B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C8F"/>
                </a:solidFill>
              </a:defRPr>
            </a:pPr>
            <a:r>
              <a:rPr sz="1500" b="0">
                <a:solidFill>
                  <a:srgbClr val="6B7C8F"/>
                </a:solidFill>
              </a:rPr>
              <a:t>여객선 시간표, 해양 예보, 섬여행, 크루즈 정보를 연결해 사용자가 실제 여행 준비 흐름대로 확인할 수 있게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72268-C9F8-4982-B894-6395C838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66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DD85-767C-498A-90F8-59EB5E1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B8F"/>
                </a:solidFill>
              </a:defRPr>
            </a:pPr>
            <a:r>
              <a:rPr sz="1650" b="1">
                <a:solidFill>
                  <a:srgbClr val="0B3B8F"/>
                </a:solidFill>
              </a:rPr>
              <a:t>개발 기획서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7CF64-2276-4176-BE5B-678C7FB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F"/>
                </a:solidFill>
              </a:defRPr>
            </a:pPr>
            <a:r>
              <a:rPr sz="1200" b="0">
                <a:solidFill>
                  <a:srgbClr val="6B7C8F"/>
                </a:solidFill>
              </a:rPr>
              <a:t>v1.0 · 2026.08</a:t>
            </a:r>
          </a:p>
        </p:txBody>
      </p:sp>
    </p:spTree>
    <p:extLst>
      <p:ext uri="{BB962C8B-B14F-4D97-AF65-F5344CB8AC3E}">
        <p14:creationId xmlns:p14="http://schemas.microsoft.com/office/powerpoint/2010/main" val="438462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313AA-3F80-4533-B29E-76E23050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AAFD0-68F8-4DA7-B92E-3D6439E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섬 여행 준비는 정보가 흩어져 있어 결정이 늦어집니다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A8AC8-8C1D-4A60-8236-A5BD4A7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시간표, 날씨, 섬 정보, 현장 편의 정보를 각각 찾아야 하는 불편을 하나의 흐름으로 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54BA5-EF7C-41D9-AF74-190D69C1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B932F-5862-4EC2-9544-8EEBC993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D334B-C02A-41C3-8CA2-7515AB4C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A61FC-C530-4BF5-B8CD-145FEBC8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운항 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E1926-239C-466A-983F-98EE0B2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출발지·도착지별 시간표와 선박 상세가 여러 경로에 흩어져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8AC61-16AD-42DC-AE22-3E447DC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90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해양 위험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4B2D9-4214-418E-8079-DF8279F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풍속, 파고, 조석, 특보를 여행 일정과 함께 판단하기 어렵습니다.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1E50E-2081-40AA-8AC5-C06EF833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90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여행 맥락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1A428-CA91-4740-B14B-7F24E18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관광지, 식당, 숙박, 캠핑, 갯벌 등 목적별 정보가 섬과 잘 연결되지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5DF29-24D1-4A28-8EC4-39C9352B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3B8F"/>
                </a:solidFill>
              </a:defRPr>
            </a:pPr>
            <a:r>
              <a:rPr sz="2100" b="1">
                <a:solidFill>
                  <a:srgbClr val="0B3B8F"/>
                </a:solidFill>
              </a:rPr>
              <a:t>기획의 핵심은 정보 통합이 아니라 여행 의사결정 순서를 앱 안에서 재구성하는 것입니다.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9E315-4537-4ACF-88AF-0EB9238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C406D-FBC7-4854-9E42-8824F28A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6132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04D38-2166-4B59-AEAB-4EA409A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제품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734AB-7C0C-41B0-8EDD-67CAA90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섬똑은 네 가지 핵심 메뉴로 여행 준비 흐름을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B10A6-6885-4BD2-9E5C-91D771E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홈에서 오늘의 바닷길을 보고, 시간표·예보·섬여행·크루즈로 이어지는 구조입니다.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F64B1-5C40-45D3-8F9B-A01AE963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DE03B-6733-44A4-84B3-AF0188C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E0"/>
                </a:solidFill>
              </a:defRPr>
            </a:pPr>
            <a:r>
              <a:rPr sz="1875" b="1">
                <a:solidFill>
                  <a:srgbClr val="1769E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F1297-7C53-4775-9E92-55E9814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시간표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9042E-2E26-4633-850C-D5C9A333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출발·도착 항로 검색, 운항 일정, 선박 상세 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F3BA7-1360-449D-AAA2-75FAC01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2381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8B9DB-91A6-46CA-9932-CAE78B2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E0"/>
                </a:solidFill>
              </a:defRPr>
            </a:pPr>
            <a:r>
              <a:rPr sz="1875" b="1">
                <a:solidFill>
                  <a:srgbClr val="1769E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B4241-2ED1-4245-AFE0-4B862349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예보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FADBA-76CD-4557-A675-C95F4B7A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조회 권역별 풍속·파고·강수·수온·조석·특보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74161-C93D-4046-9ADA-5DE2578F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381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D30E6-27AD-4E2F-99A2-1710A91E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E0"/>
                </a:solidFill>
              </a:defRPr>
            </a:pPr>
            <a:r>
              <a:rPr sz="1875" b="1">
                <a:solidFill>
                  <a:srgbClr val="1769E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D6082-ACAE-43A6-AC68-C3CC3BA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섬여행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D21BD-BDD0-469D-81F5-CD250F45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섬 통합검색, 추천권역, 관광·체험·숙박·식당 상세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2A74F-CDDB-402E-93F5-C9F77BE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381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C6397-8612-493E-B522-80ED4AF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E0"/>
                </a:solidFill>
              </a:defRPr>
            </a:pPr>
            <a:r>
              <a:rPr sz="1875" b="1">
                <a:solidFill>
                  <a:srgbClr val="1769E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A857B-DD56-41F8-8039-0FF9175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크루즈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B87C1-A800-4D75-970D-D924CD62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항만별 입항 일정, 월별 접기/펼치기, 선박·사업자 상세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21F93-E973-4511-9008-C24C8CDA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097BA-F251-4F4E-BF0C-0236C028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5045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69F4C-8FE7-4653-9A06-8E0C1392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현재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162A-280F-40DF-9E05-4781569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홈은 사용자의 다음 행동을 빠르게 제안합니다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052FF-0E55-4D37-8572-D59360B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오늘의 항로, 알림, 추천 섬여행, 사진·관광지 연결을 한 화면에서 요약합니다.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120e59ece4b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742950"/>
            <a:ext cx="3000375" cy="5334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6475-39AD-4F33-BDDD-E7DC7DA7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E5269-4E50-4549-8F3A-695F7723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오늘 내 항로와 위험 신호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ED32-B8AD-467E-B2F8-0309276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C6A5"/>
                </a:solidFill>
              </a:defRPr>
            </a:pPr>
            <a:r>
              <a:rPr sz="2850" b="1">
                <a:solidFill>
                  <a:srgbClr val="24C6A5"/>
                </a:solidFill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7A6CA-87CD-49CF-A235-56DE8CA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시간표·예보·섬여행으로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A068F-CC76-4CE4-9046-B943735A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A524"/>
                </a:solidFill>
              </a:defRPr>
            </a:pPr>
            <a:r>
              <a:rPr sz="2850" b="1">
                <a:solidFill>
                  <a:srgbClr val="F5A524"/>
                </a:solidFill>
              </a:rPr>
              <a:t>Saved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83D98-F0B6-4F79-BB81-D03DC47C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즐겨찾기와 최근 조회 기반 개인화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B419C-55B6-4A20-9D39-85D9979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출시 전 홈의 역할은 모든 기능을 설명하는 것이 아니라, 사용자가 지금 확인할 것을 줄여주는 것입니다.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21157-DA3C-4F4F-AEF8-EA28A65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D865B-84E2-4E8C-A7FA-A0A19924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3585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B57A1-0431-4333-8E9C-28316886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핵심 기능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175BE-E98C-4ABA-8D16-D2DB67A5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시간표는 실제 이동 준비의 시작점입니다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312FF-94FE-4C38-8F79-46690C06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출발지·도착지·날짜를 기준으로 운항 일정을 찾고, 선택한 일정에서 선박 상세로 이어집니다.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c7c85ef7140ac"/>
          <a:srcRect xmlns:a="http://schemas.openxmlformats.org/drawingml/2006/main" l="0" t="3551" r="0" b="3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123950"/>
            <a:ext cx="3143250" cy="51911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0BD50-B79C-45EE-9304-B2042F12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5810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A385-6AFD-494A-BDDB-2167A7C8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FAAF6-D8F7-458E-A668-F6A07E2E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526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출발지 기준 도착지 후보를 탐색하는 서브 조회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09A59-97A3-43A9-A6F2-C17594C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ABB47-512A-4553-99D4-242B1315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4320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운항 일정 목록에서 바로 선박 상세 모달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6CE0D-D48A-4725-9E74-34498FD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47B33-5841-4F3B-9EEA-5AD3422B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오늘/내일/주말 빠른 날짜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D8654-F5CD-4893-9491-98F499A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E2355-D461-4752-8C71-E0141A0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2430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항로 즐겨찾기와 최근 조회 기반 재검색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E6727-21B0-415A-8055-04ABC2C4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사용자 가치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064E7-AE92-4E84-A0BD-12E06DDA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768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섬 여행의 첫 질문인 “오늘 배가 있나?”를 가장 짧은 단계로 답합니다.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DD547-0B67-48A4-8EF8-6624EB2F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17690-C515-466A-8D1E-610B0F4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8543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4EF1D-57BA-48F8-9BEF-00EAB841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핵심 기능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0137E-FCAE-49BF-8988-E5E9B8E4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예보는 출항 판단을 돕는 안전 레이어입니다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ABF3E-1088-43F1-BD50-3BA8CE86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권역 선택 후 풍속·파고·강수·조석·특보를 함께 보여 여행 리스크를 한 번에 점검합니다.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BF5A9-5C8F-49AD-B8C3-A4A9534A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8E273-94EC-4F07-9EC2-F6EB95CF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C3B8F-0256-4F91-9815-ED0F8455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여행 권역처럼 펼치고 접는 조회 권역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2DADA-B3FF-47F6-BAC6-17454AB8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7D784-0D61-4B3A-815F-D629884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운항 위험 점수와 사유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CE484-8B77-4389-AB7E-C35AA33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FA8AD-C1E6-44A6-A02C-4A311106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단기예보, 기상특보, 만조·간조 흐름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4B4AD-7F7A-4DEB-B79D-3C28660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41F8F-3820-4FDD-8404-61EC4C15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6715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시간표·홈 추천 항로와 이어지는 안전 확인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9f0a75e744c58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200150"/>
            <a:ext cx="2857500" cy="4953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FC4EF-AC0A-43EC-9B5A-760BCF5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4A8CC-484B-4A19-BEFD-CF1022F5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44115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E5C52-B597-4F5A-9ED1-170E8FEB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핵심 기능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070DF-B481-46B7-B8A6-1E179998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섬여행은 섬 하나를 찾고 이해하는 검색 화면입니다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AE121-8555-46BC-984C-822E5372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섬명, 관광지, 식당, 숙박을 통합검색하고 항목별 상세를 확인하도록 구성합니다.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19a268f5e4c66"/>
          <a:srcRect xmlns:a="http://schemas.openxmlformats.org/drawingml/2006/main" l="0" t="1915" r="0" b="1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00150"/>
            <a:ext cx="2952750" cy="50482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9973E-26B1-42E7-B020-2BEBA53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571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24887-95B3-4574-B2FD-43F03137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28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3B8F"/>
                </a:solidFill>
              </a:defRPr>
            </a:pPr>
            <a:r>
              <a:rPr sz="1725" b="1">
                <a:solidFill>
                  <a:srgbClr val="0B3B8F"/>
                </a:solidFill>
              </a:rPr>
              <a:t>통합검색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2590F-AF99-4A74-A9CD-C1740B3E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섬 이름과 주변 여행 데이터를 함께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45B2B-CABE-4BA8-BBBD-30C6C3FE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571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1C6C8-6FA5-4663-8DA4-5829AA8D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3B8F"/>
                </a:solidFill>
              </a:defRPr>
            </a:pPr>
            <a:r>
              <a:rPr sz="1725" b="1">
                <a:solidFill>
                  <a:srgbClr val="0B3B8F"/>
                </a:solidFill>
              </a:rPr>
              <a:t>추천권역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0557B-7D8D-4BAF-A164-B8203042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여행 권역 기준 추천섬 목록으로 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E4F99-8A2A-40AA-8A35-ED5A882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71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A2F3A-CC7C-482B-B967-1B03F3E5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3B8F"/>
                </a:solidFill>
              </a:defRPr>
            </a:pPr>
            <a:r>
              <a:rPr sz="1725" b="1">
                <a:solidFill>
                  <a:srgbClr val="0B3B8F"/>
                </a:solidFill>
              </a:rPr>
              <a:t>상세 조회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AC1FD-EE87-4136-92B5-4BD5FA5C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요약, 위치·연락, 상세 항목 중심의 모달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36464-C212-4410-AFB2-66AD32E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571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1910E-CA2B-4FEF-A7E0-975A9F3A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3B8F"/>
                </a:solidFill>
              </a:defRPr>
            </a:pPr>
            <a:r>
              <a:rPr sz="1725" b="1">
                <a:solidFill>
                  <a:srgbClr val="0B3B8F"/>
                </a:solidFill>
              </a:rPr>
              <a:t>연결 동선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4FC09-B208-4913-8473-22767D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62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사진, 지도, 예보, 시간표로 다음 행동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456ED-F066-409E-BB9D-8353BF1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C6685-D7CC-4783-AA6F-2777439F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4705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D76DD-4E09-4B67-A50E-EAFB47CB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핵심 기능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976BE-F0B7-4FDB-A8F6-70C14EF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크루즈는 항만·선박 중심 정보 메뉴로 확장합니다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632AE-43E7-4A57-98BC-A9FBE81A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입항 일정과 선박 규모, 등록 사업자 정보를 관광 맥락으로 묶어 제공합니다.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FFB64-3176-4893-AAF1-7DAE0CC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9620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FA55F-2612-4248-B5BC-C8836DD9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9E0"/>
                </a:solidFill>
              </a:defRPr>
            </a:pPr>
            <a:r>
              <a:rPr sz="1950" b="1">
                <a:solidFill>
                  <a:srgbClr val="1769E0"/>
                </a:solidFill>
              </a:rPr>
              <a:t>최근 반영된 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AEBBF-A8D9-46FA-8920-9CD37988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452F1-144C-4E36-9D3E-559C2027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824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입항 일정을 월별로 접고 펼 수 있게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51006-2F2B-425C-9630-77B3DD9C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181EC-A548-4365-A192-46CF3B4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824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부산·인천·여수·포항 크루즈 데이터 기반 마스터 적재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947EB-F10F-4AA9-BEE6-A78F826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FA458-1F68-43A7-AAD3-A55D095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824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스케줄 상세, 선박 상세, 등록 유람선 사업자 상세로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C61D5-A07D-4A22-A3A9-4147F30E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B1693-06DF-473B-90BE-8D6560C1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824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데이터가 채워질수록 항만별 시즌성과 관광 상품 연결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6FE82-704D-45C3-9840-E3F90902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6D54A-01A4-40F5-8088-BE88865A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6444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ADEBB-1B3F-4C6F-9BBA-4B199E90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데이터 전략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D109D-3DC7-496C-97C9-489FBBB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서비스 품질은 데이터 파이프라인의 정리 수준에 달려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95D23-E022-43F4-ADB7-8E7F524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공공 API와 파일 데이터를 같은 검색·추천 자산으로 바꾸는 구조가 필요합니다.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36114-80E5-46F0-8E0F-9D08AC90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764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216CF-11A8-4034-B311-97D2A42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0E596-328E-45BA-91F0-77E27A95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공공 API, data.go.kr 파일, 항만·관광 사이트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005EF-446E-4395-8208-F8C79D44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0C259-CB22-463C-BF04-A853FAE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0764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48209-DDCB-4D69-BF8E-03C20AFF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정제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38A3F-135C-4325-B094-1E564F4F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주소 보정, 권역 매핑, 중복 다운로드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B98F7-ED49-4F69-A1E3-9CD49C06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480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1F942-32D7-4139-A1AB-EFE9E6D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0764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F0194-C2AC-4053-9437-F6C9159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마스터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0746E-23B9-439E-8A31-BA4DC3C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섬, 주소, 예보권역, 여행권역, 크루즈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75251-47E8-4555-9F36-A7D7541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CB9AD-39FD-48FE-A3E0-064C466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20764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C4552-84A1-4390-8001-5F58A2C2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서비스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36D1C-3E97-4668-96AF-39AF6492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검색, 상세, 추천, 안전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9C97B-7F09-4A1F-973B-18569397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3B8F"/>
                </a:solidFill>
              </a:defRPr>
            </a:pPr>
            <a:r>
              <a:rPr sz="2025" b="1">
                <a:solidFill>
                  <a:srgbClr val="0B3B8F"/>
                </a:solidFill>
              </a:rPr>
              <a:t>다음 고도화의 핵심은 “많이 모은 데이터”가 아니라 “섬과 권역에 정확히 붙은 데이터”입니다.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82100-BA74-4A7B-8507-70944BF1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F6054-C1F0-4507-9BED-E8F9D070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7985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E2A51-4EFE-429C-B6EE-B371FC2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추천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28B10-B625-4A1A-AA25-8D56FEC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추천 알고리즘은 조건 매칭보다 코스 맥락을 먼저 봐야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7D1C8-AF31-44C7-A6B1-06DCAB87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여행 스타일과 조건은 후보를 좁히고, 최종 추천은 경로 성격과 거리·동선 품질로 설명합니다.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DC170-572A-43B0-9D9F-DF46E24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E982F-FA53-4B42-AD4A-692132A4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07EA4-28E1-4808-88D5-8459AE15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20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7C64-8B3A-4D34-89BB-6205F77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1. 후보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F5273-9DAE-41D2-A654-B42CF99B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권역, 섬, 검색어, 활동 카테고리로 여행 자원을 모읍니다.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98314-D3DD-4956-9092-773EFE6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2. 품질 점수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5D771-449D-4FF3-AB6F-B9947499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956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주소·좌표·섬 매칭·운영 상태·상세 필드 보유 여부를 반영합니다.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C4DCB-DA08-4C4F-838C-38D52137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3. 코스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52E1A-5DBE-4B8F-A363-8D572E5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관광지, 체험, 맛집, 전망, 이동거리 흐름으로 실제 코스처럼 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C5FF1-4FF7-4282-A779-887AF49B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3B8F"/>
                </a:solidFill>
              </a:defRPr>
            </a:pPr>
            <a:r>
              <a:rPr sz="1950" b="1">
                <a:solidFill>
                  <a:srgbClr val="0B3B8F"/>
                </a:solidFill>
              </a:rPr>
              <a:t>설명 가능한 추천: 왜 이 섬인지, 왜 이 순서인지, 무엇을 확인해야 하는지까지 보여줍니다.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2D099-C696-4F72-B7E9-9DCE270A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0D90F-D373-4775-9CEE-AA6CA924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1318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B8BA9-1DF1-407A-B230-B8D90F0D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출시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819D3-CDCB-4711-9D57-F34144FB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출시 준비는 Play 등록 자산과 운영 안정성을 함께 봐야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56FBE-ED2D-416A-8506-B53F42B8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AAB, 앱 서명, 개인정보 처리방침, 스토어 이미지, 서버 도메인 연결이 1차 준비 범위입니다.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B95A9-AB77-4972-8D7E-4A043710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2BE9D-68AF-4376-9E5C-B68269B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C727A-D422-42D6-A41F-A9C0233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9E0"/>
                </a:solidFill>
              </a:defRPr>
            </a:pPr>
            <a:r>
              <a:rPr sz="1950" b="1">
                <a:solidFill>
                  <a:srgbClr val="1769E0"/>
                </a:solidFill>
              </a:rPr>
              <a:t>완료된 준비물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2359F-6B5E-4AA5-84AD-C9C95AA7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4D5E0-3740-4013-858A-D433FDD1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앱 아이콘, 그래픽 이미지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62715-5792-49C0-B4D0-8EC1D7BF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26564-531F-4201-AB0B-CAEFEAE0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휴대전화·7인치·10인치 스크린샷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DF932-E4C5-4E58-92D6-6D18831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60883-3DBC-4BD4-8F66-0A6A6AC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개인정보 처리방침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C4FF5-0DDF-455B-8086-A13A0D4C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27DB1-D3A7-4A00-BC70-97EC4713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Play 업로드용 AAB 빌드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5B339-9740-475C-949D-BBD95FE4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6B"/>
                </a:solidFill>
              </a:defRPr>
            </a:pPr>
            <a:r>
              <a:rPr sz="1950" b="1">
                <a:solidFill>
                  <a:srgbClr val="FF6B6B"/>
                </a:solidFill>
              </a:rPr>
              <a:t>출시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E3336-A7CC-43AC-B664-FB651258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F5C7E-D0FF-4E98-8522-00C2878A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956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운영 API health와 주요 API 정상 응답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34174-89A6-4369-B837-7C026219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230C0-0247-49FE-973B-14029FF4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Play Console 데이터 보안 양식 확정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0DF64-1703-4F60-98B8-91912BEB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257FD-EA2B-461A-824A-56C2379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업로드 키와 Play App Signing 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70ED2-6935-445D-88E8-A097ECD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94EC1-706F-4541-8139-6D38E282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실기기 설치 후 전체 메뉴 QA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E8D70-8B82-4237-9060-4584DE0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C81F7-DBE5-4E91-AE8C-90382F2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7046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C0448-17C5-4F4E-827A-2C6692A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로드맵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8539E-F96A-4CC5-BDE3-B11CDA7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다음 단계는 검색 품질과 추천 코스의 실제감을 높이는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23BF-30CC-4ED7-A567-E101D183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C8F"/>
                </a:solidFill>
              </a:defRPr>
            </a:pPr>
            <a:r>
              <a:rPr sz="1425" b="0">
                <a:solidFill>
                  <a:srgbClr val="6B7C8F"/>
                </a:solidFill>
              </a:rPr>
              <a:t>1차 출시는 정보 조회 품질을 안정화하고, 2차는 섬별 추천·코스·검색엔진으로 확장합니다.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79CA-F3D1-4175-9463-E0016A7F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B8F"/>
                </a:solidFill>
              </a:defRPr>
            </a:pPr>
            <a:r>
              <a:rPr sz="1800" b="1">
                <a:solidFill>
                  <a:srgbClr val="0B3B8F"/>
                </a:solidFill>
              </a:rPr>
              <a:t>1차 안정화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7E30A-4F4A-46C8-98C6-D0A293A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4787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73FF7-9084-4380-8583-F6122F41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47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Play 등록, 운영 API 모니터링, 시간표·예보·섬여행 기본 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BDF49-F0F7-4F82-A18F-DA54D4F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B8F"/>
                </a:solidFill>
              </a:defRPr>
            </a:pPr>
            <a:r>
              <a:rPr sz="1800" b="1">
                <a:solidFill>
                  <a:srgbClr val="0B3B8F"/>
                </a:solidFill>
              </a:rPr>
              <a:t>2차 데이터 고도화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2AF2D-5FD5-4354-8947-4FBC3A9C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6227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1F477-563B-4992-83DF-AA72BAA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주소 없는 여행 데이터 보정, 섬·시군구·권역 매칭 정교화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D2B3E-BDC6-43CF-9A4C-1EA31EC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B8F"/>
                </a:solidFill>
              </a:defRPr>
            </a:pPr>
            <a:r>
              <a:rPr sz="1800" b="1">
                <a:solidFill>
                  <a:srgbClr val="0B3B8F"/>
                </a:solidFill>
              </a:rPr>
              <a:t>3차 추천 고도화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527F8-4066-4562-A210-42523BF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7667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FDFFA-794D-414D-949C-1C7EEAF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76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코스 이동거리, 계절성, 날씨·배편 조건을 반영한 추천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5FAFF-2D03-41D8-BA8D-B0D0EEB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3B8F"/>
                </a:solidFill>
              </a:defRPr>
            </a:pPr>
            <a:r>
              <a:rPr sz="1800" b="1">
                <a:solidFill>
                  <a:srgbClr val="0B3B8F"/>
                </a:solidFill>
              </a:rPr>
              <a:t>4차 검색엔진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24FBD-784D-4C4F-9CD7-E6F91901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9107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C04BB-80B9-4FF2-A01A-6E5090E4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관광검색엔진으로 유형별 상세·필터·랭킹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3287F-8DC5-4BA1-A3DE-8CAADE75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의사결정 요청: 1차 출시 범위는 유지하고, 데이터 보정·검색엔진·추천코스는 출시 후 반복 개선 과제로 분리합니다.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197FB-862E-4BD1-993E-8664D66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F"/>
                </a:solidFill>
              </a:defRPr>
            </a:pPr>
            <a:r>
              <a:rPr sz="825" b="0">
                <a:solidFill>
                  <a:srgbClr val="6B7C8F"/>
                </a:solidFill>
              </a:rPr>
              <a:t>섬똑 여행앱 개발 기획서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28772-0A62-4EE2-83E9-822322A8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</a:defRPr>
            </a:pPr>
            <a:r>
              <a:rPr sz="825" b="1">
                <a:solidFill>
                  <a:srgbClr val="1769E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3470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2026-08-18T01:44:36.1100000Z</dcterms:created>
  <dcterms:modified xsi:type="dcterms:W3CDTF">2026-08-18T01:44:36.1100000Z</dcterms:modified>
</coreProperties>
</file>